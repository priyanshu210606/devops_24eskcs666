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4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2707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4.png"/><Relationship Id="rId4" Type="http://schemas.openxmlformats.org/officeDocument/2006/relationships/image" Target="../media/image20.png"/><Relationship Id="rId9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2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489204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13294D"/>
          </a:solidFill>
          <a:ln w="1905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04120" y="51663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16335C"/>
          </a:solidFill>
          <a:ln w="19050">
            <a:solidFill>
              <a:srgbClr val="0B1F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416052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1B3E70"/>
          </a:solidFill>
          <a:ln w="19050">
            <a:solidFill>
              <a:srgbClr val="0B1F3A"/>
            </a:solidFill>
            <a:prstDash val="solid"/>
          </a:ln>
        </p:spPr>
      </p:sp>
      <p:pic>
        <p:nvPicPr>
          <p:cNvPr id="5" name="Image 0" descr="/home/claude/icons/docker_wha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6858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66928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8FB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ESSENTIALS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828800"/>
            <a:ext cx="8778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Building, Shipping &amp; Running</a:t>
            </a:r>
            <a:endParaRPr lang="en-US" sz="4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in Containers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37947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6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walkthrough of Docker's architecture, </a:t>
            </a:r>
            <a:r>
              <a:rPr lang="en-US" sz="1500" dirty="0" smtClean="0">
                <a:solidFill>
                  <a:srgbClr val="C6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</a:t>
            </a:r>
            <a:r>
              <a:rPr lang="en-US" sz="1500" dirty="0">
                <a:solidFill>
                  <a:srgbClr val="C6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r>
              <a:rPr lang="en-US" sz="1500" dirty="0" smtClean="0">
                <a:solidFill>
                  <a:srgbClr val="C6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commands, </a:t>
            </a:r>
            <a:r>
              <a:rPr lang="en-US" sz="1500" dirty="0">
                <a:solidFill>
                  <a:srgbClr val="C6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writing a Dockerfile to running containers in production.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76072" y="4892040"/>
            <a:ext cx="1188720" cy="0"/>
          </a:xfrm>
          <a:prstGeom prst="line">
            <a:avLst/>
          </a:prstGeom>
          <a:noFill/>
          <a:ln w="38100">
            <a:solidFill>
              <a:srgbClr val="1D63E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66928" y="5074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 smtClean="0">
                <a:solidFill>
                  <a:srgbClr val="6E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 </a:t>
            </a:r>
            <a:r>
              <a:rPr lang="en-US" sz="1100" b="1" kern="0" spc="150" dirty="0">
                <a:solidFill>
                  <a:srgbClr val="6E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ARCHITECTURE  ·  DEPLOYMENT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D6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400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Docker?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6172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is a platform that packages an application together with everything it needs to </a:t>
            </a:r>
            <a:r>
              <a:rPr lang="en-US" sz="1600" dirty="0" smtClean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run, code</a:t>
            </a: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runtime, system </a:t>
            </a:r>
            <a:r>
              <a:rPr lang="en-US" sz="1600" dirty="0" smtClean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</a:t>
            </a: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r>
              <a:rPr lang="en-US" sz="1600" dirty="0" smtClean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settings, </a:t>
            </a: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a single unit called a </a:t>
            </a:r>
            <a:r>
              <a:rPr lang="en-US" sz="1600" b="1" dirty="0">
                <a:solidFill>
                  <a:srgbClr val="1D6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82296" cy="658368"/>
          </a:xfrm>
          <a:prstGeom prst="roundRect">
            <a:avLst>
              <a:gd name="adj" fmla="val 22222"/>
            </a:avLst>
          </a:prstGeom>
          <a:solidFill>
            <a:srgbClr val="1D63E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752344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35808"/>
            <a:ext cx="5989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container runs identically on a laptop, a test </a:t>
            </a:r>
            <a:r>
              <a:rPr lang="en-US" sz="1200" dirty="0" smtClean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</a:t>
            </a: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the </a:t>
            </a:r>
            <a:r>
              <a:rPr lang="en-US" sz="1200" dirty="0" smtClean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</a:t>
            </a: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“it worked on my machine.”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639312"/>
            <a:ext cx="82296" cy="658368"/>
          </a:xfrm>
          <a:prstGeom prst="roundRect">
            <a:avLst>
              <a:gd name="adj" fmla="val 22222"/>
            </a:avLst>
          </a:prstGeom>
          <a:solidFill>
            <a:srgbClr val="1D63E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3602736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886200"/>
            <a:ext cx="5989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container has its own filesystem and process space, so apps never interfere with each other.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489704"/>
            <a:ext cx="82296" cy="658368"/>
          </a:xfrm>
          <a:prstGeom prst="roundRect">
            <a:avLst>
              <a:gd name="adj" fmla="val 22222"/>
            </a:avLst>
          </a:prstGeom>
          <a:solidFill>
            <a:srgbClr val="1D63E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445312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736592"/>
            <a:ext cx="5989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share the host OS kernel, so they start in seconds and use far less memory than virtual machines.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178040" y="1417320"/>
            <a:ext cx="4480560" cy="4846320"/>
          </a:xfrm>
          <a:prstGeom prst="roundRect">
            <a:avLst>
              <a:gd name="adj" fmla="val 2041"/>
            </a:avLst>
          </a:prstGeom>
          <a:solidFill>
            <a:srgbClr val="0B1F3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98080" y="1691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FB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CODE TO CONTAINER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98080" y="214884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16335C"/>
          </a:solidFill>
          <a:ln/>
        </p:spPr>
      </p:sp>
      <p:pic>
        <p:nvPicPr>
          <p:cNvPr id="17" name="Image 0" descr="/home/claude/icons/file_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096" y="2276856"/>
            <a:ext cx="310896" cy="310896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8211312" y="21214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Write a Dockerfile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8211312" y="239572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6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base image, dependencies, and startup command.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772400" y="2743200"/>
            <a:ext cx="0" cy="256032"/>
          </a:xfrm>
          <a:prstGeom prst="line">
            <a:avLst/>
          </a:prstGeom>
          <a:noFill/>
          <a:ln w="19050">
            <a:solidFill>
              <a:srgbClr val="2A4A80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7498080" y="3227832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16335C"/>
          </a:solidFill>
          <a:ln/>
        </p:spPr>
      </p:sp>
      <p:pic>
        <p:nvPicPr>
          <p:cNvPr id="22" name="Image 1" descr="/home/claude/icons/box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6096" y="3355848"/>
            <a:ext cx="310896" cy="310896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8211312" y="3200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Add Dependencies</a:t>
            </a:r>
            <a:endParaRPr lang="en-US" sz="1350" dirty="0"/>
          </a:p>
        </p:txBody>
      </p:sp>
      <p:sp>
        <p:nvSpPr>
          <p:cNvPr id="24" name="Text 20"/>
          <p:cNvSpPr txBox="1"/>
          <p:nvPr/>
        </p:nvSpPr>
        <p:spPr>
          <a:xfrm>
            <a:off x="8211312" y="347472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6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packages and libraries the app needs to run correctly.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7772400" y="3822192"/>
            <a:ext cx="0" cy="256032"/>
          </a:xfrm>
          <a:prstGeom prst="line">
            <a:avLst/>
          </a:prstGeom>
          <a:noFill/>
          <a:ln w="19050">
            <a:solidFill>
              <a:srgbClr val="2A4A80"/>
            </a:solidFill>
            <a:prstDash val="dash"/>
          </a:ln>
        </p:spPr>
      </p:sp>
      <p:sp>
        <p:nvSpPr>
          <p:cNvPr id="26" name="Shape 22"/>
          <p:cNvSpPr/>
          <p:nvPr/>
        </p:nvSpPr>
        <p:spPr>
          <a:xfrm>
            <a:off x="7498080" y="4306824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16335C"/>
          </a:solidFill>
          <a:ln/>
        </p:spPr>
      </p:sp>
      <p:pic>
        <p:nvPicPr>
          <p:cNvPr id="27" name="Image 2" descr="/home/claude/icons/cu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6096" y="4434840"/>
            <a:ext cx="310896" cy="31089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8211312" y="42793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Build the Image</a:t>
            </a:r>
            <a:endParaRPr lang="en-US" sz="1350" dirty="0"/>
          </a:p>
        </p:txBody>
      </p:sp>
      <p:sp>
        <p:nvSpPr>
          <p:cNvPr id="29" name="Text 24"/>
          <p:cNvSpPr txBox="1"/>
          <p:nvPr/>
        </p:nvSpPr>
        <p:spPr>
          <a:xfrm>
            <a:off x="8211312" y="455371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6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packages everything into a portable, read-only image.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7772400" y="4901184"/>
            <a:ext cx="0" cy="256032"/>
          </a:xfrm>
          <a:prstGeom prst="line">
            <a:avLst/>
          </a:prstGeom>
          <a:noFill/>
          <a:ln w="19050">
            <a:solidFill>
              <a:srgbClr val="2A4A80"/>
            </a:solidFill>
            <a:prstDash val="dash"/>
          </a:ln>
        </p:spPr>
      </p:sp>
      <p:sp>
        <p:nvSpPr>
          <p:cNvPr id="31" name="Shape 26"/>
          <p:cNvSpPr/>
          <p:nvPr/>
        </p:nvSpPr>
        <p:spPr>
          <a:xfrm>
            <a:off x="7498080" y="5385816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16335C"/>
          </a:solidFill>
          <a:ln/>
        </p:spPr>
      </p:sp>
      <p:pic>
        <p:nvPicPr>
          <p:cNvPr id="32" name="Image 3" descr="/home/claude/icons/pla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6096" y="5513832"/>
            <a:ext cx="310896" cy="310896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8211312" y="53583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Run the Container</a:t>
            </a:r>
            <a:endParaRPr lang="en-US" sz="1350" dirty="0"/>
          </a:p>
        </p:txBody>
      </p:sp>
      <p:sp>
        <p:nvSpPr>
          <p:cNvPr id="34" name="Text 28"/>
          <p:cNvSpPr txBox="1"/>
          <p:nvPr/>
        </p:nvSpPr>
        <p:spPr>
          <a:xfrm>
            <a:off x="8211312" y="5632704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6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one or more running instances from that image.</a:t>
            </a:r>
            <a:endParaRPr lang="en-US" sz="1050" dirty="0"/>
          </a:p>
        </p:txBody>
      </p:sp>
      <p:sp>
        <p:nvSpPr>
          <p:cNvPr id="35" name="Text 29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36" name="Text 30"/>
          <p:cNvSpPr txBox="1"/>
          <p:nvPr/>
        </p:nvSpPr>
        <p:spPr>
          <a:xfrm>
            <a:off x="9171432" y="65196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ESSENTIALS</a:t>
            </a:r>
            <a:endParaRPr lang="en-US" sz="900" dirty="0"/>
          </a:p>
        </p:txBody>
      </p:sp>
      <p:sp>
        <p:nvSpPr>
          <p:cNvPr id="37" name="Text 31"/>
          <p:cNvSpPr txBox="1"/>
          <p:nvPr/>
        </p:nvSpPr>
        <p:spPr>
          <a:xfrm>
            <a:off x="11503152" y="651967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D6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400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Docker Is Put Together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follows a client-server model. The pieces below work together every time you run a single docker command.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EAF1FE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2167128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pic>
        <p:nvPicPr>
          <p:cNvPr id="7" name="Image 0" descr="/home/claude/icons/term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2276856"/>
            <a:ext cx="283464" cy="28346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49808" y="2752344"/>
            <a:ext cx="3118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Client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3044952"/>
            <a:ext cx="3118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 you type commands into (docker run, docker build). It talks to the daemon via a REST API.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88536" y="196596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EAF1FE"/>
          </a:solidFill>
          <a:ln/>
        </p:spPr>
      </p:sp>
      <p:sp>
        <p:nvSpPr>
          <p:cNvPr id="11" name="Shape 8"/>
          <p:cNvSpPr/>
          <p:nvPr/>
        </p:nvSpPr>
        <p:spPr>
          <a:xfrm>
            <a:off x="4489704" y="2167128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pic>
        <p:nvPicPr>
          <p:cNvPr id="12" name="Image 1" descr="/home/claude/icons/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432" y="2276856"/>
            <a:ext cx="283464" cy="28346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489704" y="2752344"/>
            <a:ext cx="3118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Daemon (dockerd)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4489704" y="3044952"/>
            <a:ext cx="3118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background engine on the host that builds images, and runs, monitors, and stops containers.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028432" y="196596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EAF1FE"/>
          </a:solidFill>
          <a:ln/>
        </p:spPr>
      </p:sp>
      <p:sp>
        <p:nvSpPr>
          <p:cNvPr id="16" name="Shape 12"/>
          <p:cNvSpPr/>
          <p:nvPr/>
        </p:nvSpPr>
        <p:spPr>
          <a:xfrm>
            <a:off x="8229600" y="2167128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pic>
        <p:nvPicPr>
          <p:cNvPr id="17" name="Image 2" descr="/home/claude/icons/layer_grou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9328" y="2276856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229600" y="2752344"/>
            <a:ext cx="3118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Images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8229600" y="3044952"/>
            <a:ext cx="3118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templates with the app and its </a:t>
            </a:r>
            <a:r>
              <a:rPr lang="en-US" sz="1050" dirty="0" smtClean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dependencies, the </a:t>
            </a: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a container is created from.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4005072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EAF1FE"/>
          </a:solidFill>
          <a:ln/>
        </p:spPr>
      </p:sp>
      <p:sp>
        <p:nvSpPr>
          <p:cNvPr id="21" name="Shape 16"/>
          <p:cNvSpPr/>
          <p:nvPr/>
        </p:nvSpPr>
        <p:spPr>
          <a:xfrm>
            <a:off x="749808" y="420624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pic>
        <p:nvPicPr>
          <p:cNvPr id="22" name="Image 3" descr="/home/claude/icons/box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" y="4315968"/>
            <a:ext cx="283464" cy="28346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49808" y="4791456"/>
            <a:ext cx="3118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Containers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749808" y="5084064"/>
            <a:ext cx="3118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isolated runtime instances of an </a:t>
            </a:r>
            <a:r>
              <a:rPr lang="en-US" sz="1050" dirty="0" smtClean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image, </a:t>
            </a: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running application.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288536" y="4005072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EAF1FE"/>
          </a:solidFill>
          <a:ln/>
        </p:spPr>
      </p:sp>
      <p:sp>
        <p:nvSpPr>
          <p:cNvPr id="26" name="Shape 20"/>
          <p:cNvSpPr/>
          <p:nvPr/>
        </p:nvSpPr>
        <p:spPr>
          <a:xfrm>
            <a:off x="4489704" y="420624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pic>
        <p:nvPicPr>
          <p:cNvPr id="27" name="Image 4" descr="/home/claude/icons/clou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9432" y="4315968"/>
            <a:ext cx="283464" cy="283464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4489704" y="4791456"/>
            <a:ext cx="3118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Registry</a:t>
            </a:r>
            <a:endParaRPr lang="en-US" sz="1350" dirty="0"/>
          </a:p>
        </p:txBody>
      </p:sp>
      <p:sp>
        <p:nvSpPr>
          <p:cNvPr id="29" name="Text 22"/>
          <p:cNvSpPr txBox="1"/>
          <p:nvPr/>
        </p:nvSpPr>
        <p:spPr>
          <a:xfrm>
            <a:off x="4489704" y="5084064"/>
            <a:ext cx="3118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storage/distribution service (like Docker Hub) that images are pushed to and pulled from.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028432" y="4005072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EAF1FE"/>
          </a:solidFill>
          <a:ln/>
        </p:spPr>
      </p:sp>
      <p:sp>
        <p:nvSpPr>
          <p:cNvPr id="31" name="Shape 24"/>
          <p:cNvSpPr/>
          <p:nvPr/>
        </p:nvSpPr>
        <p:spPr>
          <a:xfrm>
            <a:off x="8229600" y="420624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pic>
        <p:nvPicPr>
          <p:cNvPr id="32" name="Image 5" descr="/home/claude/icons/databas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39328" y="4315968"/>
            <a:ext cx="283464" cy="283464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8229600" y="4791456"/>
            <a:ext cx="3118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&amp; Networks</a:t>
            </a:r>
            <a:endParaRPr lang="en-US" sz="1350" dirty="0"/>
          </a:p>
        </p:txBody>
      </p:sp>
      <p:sp>
        <p:nvSpPr>
          <p:cNvPr id="34" name="Text 26"/>
          <p:cNvSpPr txBox="1"/>
          <p:nvPr/>
        </p:nvSpPr>
        <p:spPr>
          <a:xfrm>
            <a:off x="8229600" y="5084064"/>
            <a:ext cx="3118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persist data outside the container; networks let containers discover and talk to each other.</a:t>
            </a:r>
            <a:endParaRPr lang="en-US" sz="1050" dirty="0"/>
          </a:p>
        </p:txBody>
      </p:sp>
      <p:sp>
        <p:nvSpPr>
          <p:cNvPr id="35" name="Text 27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36" name="Text 28"/>
          <p:cNvSpPr txBox="1"/>
          <p:nvPr/>
        </p:nvSpPr>
        <p:spPr>
          <a:xfrm>
            <a:off x="9171432" y="65196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ESSENTIALS</a:t>
            </a:r>
            <a:endParaRPr lang="en-US" sz="900" dirty="0"/>
          </a:p>
        </p:txBody>
      </p:sp>
      <p:sp>
        <p:nvSpPr>
          <p:cNvPr id="37" name="Text 29"/>
          <p:cNvSpPr txBox="1"/>
          <p:nvPr/>
        </p:nvSpPr>
        <p:spPr>
          <a:xfrm>
            <a:off x="11503152" y="651967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D6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400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→ Image → Container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Dockerfile defines the environment and dependencies. Docker builds it into an image, and that image is run as an isolated container.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AF1FE"/>
          </a:solidFill>
          <a:ln/>
        </p:spPr>
      </p:sp>
      <p:pic>
        <p:nvPicPr>
          <p:cNvPr id="6" name="Image 0" descr="/home/claude/icons/file_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487168"/>
            <a:ext cx="164592" cy="16459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23042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257860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text file of instructions: base image, files to copy, commands to run.</a:t>
            </a:r>
            <a:endParaRPr lang="en-US" sz="1100" dirty="0"/>
          </a:p>
        </p:txBody>
      </p:sp>
      <p:pic>
        <p:nvPicPr>
          <p:cNvPr id="9" name="Image 1" descr="/home/claude/icons/arrow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722376" y="2907792"/>
            <a:ext cx="201168" cy="20116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329184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AF1FE"/>
          </a:solidFill>
          <a:ln/>
        </p:spPr>
      </p:sp>
      <p:pic>
        <p:nvPicPr>
          <p:cNvPr id="11" name="Image 2" descr="/home/claude/icons/cu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3493008"/>
            <a:ext cx="164592" cy="16459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34440" y="3310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1234440" y="358444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Dockerfile is built into a static, versioned, shareable image.</a:t>
            </a:r>
            <a:endParaRPr lang="en-US" sz="1100" dirty="0"/>
          </a:p>
        </p:txBody>
      </p:sp>
      <p:pic>
        <p:nvPicPr>
          <p:cNvPr id="14" name="Image 3" descr="/home/claude/icons/arrow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722376" y="3913632"/>
            <a:ext cx="201168" cy="201168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548640" y="429768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AF1FE"/>
          </a:solidFill>
          <a:ln/>
        </p:spPr>
      </p:sp>
      <p:pic>
        <p:nvPicPr>
          <p:cNvPr id="16" name="Image 4" descr="/home/claude/icons/pla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4498848"/>
            <a:ext cx="164592" cy="164592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234440" y="43159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400" dirty="0"/>
          </a:p>
        </p:txBody>
      </p:sp>
      <p:sp>
        <p:nvSpPr>
          <p:cNvPr id="18" name="Text 11"/>
          <p:cNvSpPr txBox="1"/>
          <p:nvPr/>
        </p:nvSpPr>
        <p:spPr>
          <a:xfrm>
            <a:off x="1234440" y="459028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image is run as a live, isolated process on any host.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6446520" y="1371600"/>
            <a:ext cx="5212080" cy="4892040"/>
          </a:xfrm>
          <a:prstGeom prst="roundRect">
            <a:avLst>
              <a:gd name="adj" fmla="val 1869"/>
            </a:avLst>
          </a:prstGeom>
          <a:solidFill>
            <a:srgbClr val="0B1F3A"/>
          </a:solidFill>
          <a:ln/>
        </p:spPr>
      </p:sp>
      <p:sp>
        <p:nvSpPr>
          <p:cNvPr id="20" name="Shape 13"/>
          <p:cNvSpPr/>
          <p:nvPr/>
        </p:nvSpPr>
        <p:spPr>
          <a:xfrm>
            <a:off x="6446520" y="1371600"/>
            <a:ext cx="5212080" cy="420624"/>
          </a:xfrm>
          <a:prstGeom prst="rect">
            <a:avLst/>
          </a:prstGeom>
          <a:solidFill>
            <a:srgbClr val="0A1830"/>
          </a:solidFill>
          <a:ln/>
        </p:spPr>
      </p:sp>
      <p:sp>
        <p:nvSpPr>
          <p:cNvPr id="21" name="Shape 14"/>
          <p:cNvSpPr/>
          <p:nvPr/>
        </p:nvSpPr>
        <p:spPr>
          <a:xfrm>
            <a:off x="6656832" y="1517904"/>
            <a:ext cx="118872" cy="11887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2" name="Shape 15"/>
          <p:cNvSpPr/>
          <p:nvPr/>
        </p:nvSpPr>
        <p:spPr>
          <a:xfrm>
            <a:off x="6858000" y="1517904"/>
            <a:ext cx="118872" cy="118872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23" name="Shape 16"/>
          <p:cNvSpPr/>
          <p:nvPr/>
        </p:nvSpPr>
        <p:spPr>
          <a:xfrm>
            <a:off x="7059168" y="1517904"/>
            <a:ext cx="118872" cy="118872"/>
          </a:xfrm>
          <a:prstGeom prst="ellipse">
            <a:avLst/>
          </a:prstGeom>
          <a:solidFill>
            <a:srgbClr val="70AD47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7315200" y="137160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B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 ·  Node.js example</a:t>
            </a:r>
            <a:endParaRPr lang="en-US" sz="1050" dirty="0"/>
          </a:p>
        </p:txBody>
      </p:sp>
      <p:sp>
        <p:nvSpPr>
          <p:cNvPr id="25" name="Text 18"/>
          <p:cNvSpPr txBox="1"/>
          <p:nvPr/>
        </p:nvSpPr>
        <p:spPr>
          <a:xfrm>
            <a:off x="6720840" y="196596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E9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node:20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E9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 /app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E9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package*.json ./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E9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npm install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E9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. .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E9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 3000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E9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["npm", "start"]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6720840" y="4206240"/>
            <a:ext cx="4663440" cy="0"/>
          </a:xfrm>
          <a:prstGeom prst="line">
            <a:avLst/>
          </a:prstGeom>
          <a:noFill/>
          <a:ln w="12700">
            <a:solidFill>
              <a:srgbClr val="2A4A80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6720840" y="43159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FB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line does</a:t>
            </a:r>
            <a:endParaRPr lang="en-US" sz="1100" dirty="0"/>
          </a:p>
        </p:txBody>
      </p:sp>
      <p:sp>
        <p:nvSpPr>
          <p:cNvPr id="28" name="Text 21"/>
          <p:cNvSpPr txBox="1"/>
          <p:nvPr/>
        </p:nvSpPr>
        <p:spPr>
          <a:xfrm>
            <a:off x="6720840" y="4590288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6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– starts from an official Node.js 20 base image</a:t>
            </a:r>
            <a:endParaRPr lang="en-US" sz="1050" dirty="0"/>
          </a:p>
          <a:p>
            <a:pPr marL="152400" indent="-1524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6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WORKDIR / COPY / RUN – sets up the app and installs packages</a:t>
            </a:r>
            <a:endParaRPr lang="en-US" sz="1050" dirty="0"/>
          </a:p>
          <a:p>
            <a:pPr marL="152400" indent="-1524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6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– documents the port the app listens on</a:t>
            </a:r>
            <a:endParaRPr lang="en-US" sz="1050" dirty="0"/>
          </a:p>
          <a:p>
            <a:pPr marL="152400" indent="-1524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6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 – the command that runs when the container starts</a:t>
            </a:r>
            <a:endParaRPr lang="en-US" sz="1050" dirty="0"/>
          </a:p>
        </p:txBody>
      </p:sp>
      <p:sp>
        <p:nvSpPr>
          <p:cNvPr id="29" name="Text 22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900" dirty="0"/>
          </a:p>
        </p:txBody>
      </p:sp>
      <p:sp>
        <p:nvSpPr>
          <p:cNvPr id="30" name="Text 23"/>
          <p:cNvSpPr txBox="1"/>
          <p:nvPr/>
        </p:nvSpPr>
        <p:spPr>
          <a:xfrm>
            <a:off x="9171432" y="65196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ESSENTIALS</a:t>
            </a:r>
            <a:endParaRPr lang="en-US" sz="900" dirty="0"/>
          </a:p>
        </p:txBody>
      </p:sp>
      <p:sp>
        <p:nvSpPr>
          <p:cNvPr id="31" name="Text 24"/>
          <p:cNvSpPr txBox="1"/>
          <p:nvPr/>
        </p:nvSpPr>
        <p:spPr>
          <a:xfrm>
            <a:off x="11503152" y="651967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D6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400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&amp; Setting Up Docker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EAF1F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1D6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DOWNLOAD DOCKER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68680" y="21945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/>
        </p:spPr>
      </p:sp>
      <p:pic>
        <p:nvPicPr>
          <p:cNvPr id="7" name="Image 0" descr="/home/claude/icons/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2304288"/>
            <a:ext cx="237744" cy="2377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223113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docker.com/products/docker-desktop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68680" y="281635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/>
        </p:spPr>
      </p:sp>
      <p:pic>
        <p:nvPicPr>
          <p:cNvPr id="10" name="Image 1" descr="/home/claude/icons/downlo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292608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2852928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Docker Desktop for your OS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68680" y="3438144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/>
        </p:spPr>
      </p:sp>
      <p:pic>
        <p:nvPicPr>
          <p:cNvPr id="13" name="Image 2" descr="/home/claude/icons/deskt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08" y="3547872"/>
            <a:ext cx="237744" cy="2377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63040" y="347472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installer and follow the setup wizard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68680" y="4059936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/>
        </p:spPr>
      </p:sp>
      <p:pic>
        <p:nvPicPr>
          <p:cNvPr id="16" name="Image 3" descr="/home/claude/icons/syn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408" y="4169664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463040" y="409651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your machine if prompted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868680" y="4800600"/>
            <a:ext cx="4754880" cy="0"/>
          </a:xfrm>
          <a:prstGeom prst="line">
            <a:avLst/>
          </a:prstGeom>
          <a:noFill/>
          <a:ln w="12700">
            <a:solidFill>
              <a:srgbClr val="D7E3F8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868680" y="495604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1D6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VERIFY INSTALLATION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868680" y="5285232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terminal or command prompt and run the two commands on the right. Together they confirm the CLI works and that Docker can pull and run an image.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263640" y="146304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0B1F3A"/>
          </a:solidFill>
          <a:ln/>
        </p:spPr>
      </p:sp>
      <p:sp>
        <p:nvSpPr>
          <p:cNvPr id="22" name="Shape 16"/>
          <p:cNvSpPr/>
          <p:nvPr/>
        </p:nvSpPr>
        <p:spPr>
          <a:xfrm>
            <a:off x="6263640" y="1463040"/>
            <a:ext cx="5394960" cy="420624"/>
          </a:xfrm>
          <a:prstGeom prst="rect">
            <a:avLst/>
          </a:prstGeom>
          <a:solidFill>
            <a:srgbClr val="0A1830"/>
          </a:solidFill>
          <a:ln/>
        </p:spPr>
      </p:sp>
      <p:sp>
        <p:nvSpPr>
          <p:cNvPr id="23" name="Shape 17"/>
          <p:cNvSpPr/>
          <p:nvPr/>
        </p:nvSpPr>
        <p:spPr>
          <a:xfrm>
            <a:off x="6473952" y="1609344"/>
            <a:ext cx="118872" cy="11887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4" name="Shape 18"/>
          <p:cNvSpPr/>
          <p:nvPr/>
        </p:nvSpPr>
        <p:spPr>
          <a:xfrm>
            <a:off x="6675120" y="1609344"/>
            <a:ext cx="118872" cy="118872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25" name="Shape 19"/>
          <p:cNvSpPr/>
          <p:nvPr/>
        </p:nvSpPr>
        <p:spPr>
          <a:xfrm>
            <a:off x="6876288" y="1609344"/>
            <a:ext cx="118872" cy="118872"/>
          </a:xfrm>
          <a:prstGeom prst="ellipse">
            <a:avLst/>
          </a:prstGeom>
          <a:solidFill>
            <a:srgbClr val="70AD47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7132320" y="146304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B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6537960" y="2057400"/>
            <a:ext cx="4892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--version
</a:t>
            </a:r>
            <a:r>
              <a:rPr lang="en-US" sz="1300" dirty="0">
                <a:solidFill>
                  <a:srgbClr val="7FE0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version 27.x, build xxxxxxx
</a:t>
            </a:r>
            <a:r>
              <a:rPr lang="en-US" sz="1300" dirty="0">
                <a:solidFill>
                  <a:srgbClr val="8F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run hello-world
</a:t>
            </a:r>
            <a:r>
              <a:rPr lang="en-US" sz="1300" dirty="0">
                <a:solidFill>
                  <a:srgbClr val="7FE0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 from Docker!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FE0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message shows that your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FE0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installation appears to be working correctly.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6537960" y="4434840"/>
            <a:ext cx="4892040" cy="0"/>
          </a:xfrm>
          <a:prstGeom prst="line">
            <a:avLst/>
          </a:prstGeom>
          <a:noFill/>
          <a:ln w="12700">
            <a:solidFill>
              <a:srgbClr val="2A4A80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6537960" y="457200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C6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see the “Hello from Docker!” message, the engine, CLI, and network access are all configured correctly.</a:t>
            </a:r>
            <a:endParaRPr lang="en-US" sz="1150" dirty="0"/>
          </a:p>
        </p:txBody>
      </p:sp>
      <p:sp>
        <p:nvSpPr>
          <p:cNvPr id="30" name="Text 24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900" dirty="0"/>
          </a:p>
        </p:txBody>
      </p:sp>
      <p:sp>
        <p:nvSpPr>
          <p:cNvPr id="31" name="Text 25"/>
          <p:cNvSpPr txBox="1"/>
          <p:nvPr/>
        </p:nvSpPr>
        <p:spPr>
          <a:xfrm>
            <a:off x="9171432" y="65196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ESSENTIALS</a:t>
            </a:r>
            <a:endParaRPr lang="en-US" sz="900" dirty="0"/>
          </a:p>
        </p:txBody>
      </p:sp>
      <p:sp>
        <p:nvSpPr>
          <p:cNvPr id="32" name="Text 26"/>
          <p:cNvSpPr txBox="1"/>
          <p:nvPr/>
        </p:nvSpPr>
        <p:spPr>
          <a:xfrm>
            <a:off x="11503152" y="651967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D6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400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Docker Commands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commands developers reach for daily, grouped by what stage of the container lifecycle they belong to.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94960" cy="4709160"/>
          </a:xfrm>
          <a:prstGeom prst="roundRect">
            <a:avLst>
              <a:gd name="adj" fmla="val 1942"/>
            </a:avLst>
          </a:prstGeom>
          <a:solidFill>
            <a:srgbClr val="EAF1FE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14884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/>
        </p:spPr>
      </p:sp>
      <p:pic>
        <p:nvPicPr>
          <p:cNvPr id="7" name="Image 0" descr="/home/claude/icons/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267712"/>
            <a:ext cx="265176" cy="26517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21945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Inspect &amp; Run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88036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3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build -t my-app:1.0 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17296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image from the Dockerfile, tagged my-app:1.0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65760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3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-p 3000:3000 my-app:1.0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95020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in the background, mapped to port 3000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443484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3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ps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72744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currently running containers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521208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3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images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550468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images stored on this machine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245352" y="1920240"/>
            <a:ext cx="5394960" cy="4709160"/>
          </a:xfrm>
          <a:prstGeom prst="roundRect">
            <a:avLst>
              <a:gd name="adj" fmla="val 1942"/>
            </a:avLst>
          </a:prstGeom>
          <a:solidFill>
            <a:srgbClr val="EAF1FE"/>
          </a:solidFill>
          <a:ln/>
        </p:spPr>
      </p:sp>
      <p:sp>
        <p:nvSpPr>
          <p:cNvPr id="18" name="Shape 15"/>
          <p:cNvSpPr/>
          <p:nvPr/>
        </p:nvSpPr>
        <p:spPr>
          <a:xfrm>
            <a:off x="6519672" y="214884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/>
        </p:spPr>
      </p:sp>
      <p:pic>
        <p:nvPicPr>
          <p:cNvPr id="19" name="Image 1" descr="/home/claude/icons/wren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544" y="2267712"/>
            <a:ext cx="265176" cy="265176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7159752" y="21945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&amp; Debug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6519672" y="288036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3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logs my-app</a:t>
            </a:r>
            <a:endParaRPr lang="en-US" sz="1250" dirty="0"/>
          </a:p>
        </p:txBody>
      </p:sp>
      <p:sp>
        <p:nvSpPr>
          <p:cNvPr id="22" name="Text 18"/>
          <p:cNvSpPr txBox="1"/>
          <p:nvPr/>
        </p:nvSpPr>
        <p:spPr>
          <a:xfrm>
            <a:off x="6519672" y="317296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a container's output for troubleshooting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6519672" y="365760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3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 -it my-app sh</a:t>
            </a:r>
            <a:endParaRPr lang="en-US" sz="1250" dirty="0"/>
          </a:p>
        </p:txBody>
      </p:sp>
      <p:sp>
        <p:nvSpPr>
          <p:cNvPr id="24" name="Text 20"/>
          <p:cNvSpPr txBox="1"/>
          <p:nvPr/>
        </p:nvSpPr>
        <p:spPr>
          <a:xfrm>
            <a:off x="6519672" y="395020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shell inside a running container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6519672" y="443484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3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stop my-app</a:t>
            </a:r>
            <a:endParaRPr lang="en-US" sz="1250" dirty="0"/>
          </a:p>
        </p:txBody>
      </p:sp>
      <p:sp>
        <p:nvSpPr>
          <p:cNvPr id="26" name="Text 22"/>
          <p:cNvSpPr txBox="1"/>
          <p:nvPr/>
        </p:nvSpPr>
        <p:spPr>
          <a:xfrm>
            <a:off x="6519672" y="472744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Gracefully stop a running container</a:t>
            </a:r>
            <a:endParaRPr lang="en-US" sz="1100" dirty="0"/>
          </a:p>
        </p:txBody>
      </p:sp>
      <p:sp>
        <p:nvSpPr>
          <p:cNvPr id="27" name="Text 23"/>
          <p:cNvSpPr txBox="1"/>
          <p:nvPr/>
        </p:nvSpPr>
        <p:spPr>
          <a:xfrm>
            <a:off x="6519672" y="521208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3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rm my-app</a:t>
            </a:r>
            <a:endParaRPr lang="en-US" sz="1250" dirty="0"/>
          </a:p>
        </p:txBody>
      </p:sp>
      <p:sp>
        <p:nvSpPr>
          <p:cNvPr id="28" name="Text 24"/>
          <p:cNvSpPr txBox="1"/>
          <p:nvPr/>
        </p:nvSpPr>
        <p:spPr>
          <a:xfrm>
            <a:off x="6519672" y="550468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stopped container to free resources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900" dirty="0"/>
          </a:p>
        </p:txBody>
      </p:sp>
      <p:sp>
        <p:nvSpPr>
          <p:cNvPr id="30" name="Text 26"/>
          <p:cNvSpPr txBox="1"/>
          <p:nvPr/>
        </p:nvSpPr>
        <p:spPr>
          <a:xfrm>
            <a:off x="9171432" y="65196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ESSENTIALS</a:t>
            </a:r>
            <a:endParaRPr lang="en-US" sz="900" dirty="0"/>
          </a:p>
        </p:txBody>
      </p:sp>
      <p:sp>
        <p:nvSpPr>
          <p:cNvPr id="31" name="Text 27"/>
          <p:cNvSpPr txBox="1"/>
          <p:nvPr/>
        </p:nvSpPr>
        <p:spPr>
          <a:xfrm>
            <a:off x="11503152" y="651967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D6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400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Mapping &amp; Networking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are isolated by default. Port mapping and Docker networks are how you deliberately open a controlled path in and between them.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EAF1FE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28600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/>
        </p:spPr>
      </p:sp>
      <p:pic>
        <p:nvPicPr>
          <p:cNvPr id="7" name="Image 0" descr="/home/claude/icons/pl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404872"/>
            <a:ext cx="265176" cy="26517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234086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Mapping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868680" y="297180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29718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localhost:3000</a:t>
            </a:r>
            <a:endParaRPr lang="en-US" sz="1150" dirty="0"/>
          </a:p>
        </p:txBody>
      </p:sp>
      <p:pic>
        <p:nvPicPr>
          <p:cNvPr id="11" name="Image 1" descr="/home/claude/icons/arrow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3227832"/>
            <a:ext cx="274320" cy="2743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154680" y="297180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0B1F3A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3154680" y="29718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3000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868680" y="39776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633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-p 3000:3000 \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633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--name my-app my-app:1.0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868680" y="470916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format is host_port:container_port — traffic hitting the host port is forwarded straight into the container.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45352" y="205740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EAF1FE"/>
          </a:solidFill>
          <a:ln/>
        </p:spPr>
      </p:sp>
      <p:sp>
        <p:nvSpPr>
          <p:cNvPr id="17" name="Shape 13"/>
          <p:cNvSpPr/>
          <p:nvPr/>
        </p:nvSpPr>
        <p:spPr>
          <a:xfrm>
            <a:off x="6519672" y="228600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/>
        </p:spPr>
      </p:sp>
      <p:pic>
        <p:nvPicPr>
          <p:cNvPr id="18" name="Image 2" descr="/home/claude/icons/netwo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544" y="2404872"/>
            <a:ext cx="265176" cy="26517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159752" y="2340864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Networking</a:t>
            </a:r>
            <a:endParaRPr lang="en-US" sz="1550" dirty="0"/>
          </a:p>
        </p:txBody>
      </p:sp>
      <p:sp>
        <p:nvSpPr>
          <p:cNvPr id="20" name="Shape 15"/>
          <p:cNvSpPr/>
          <p:nvPr/>
        </p:nvSpPr>
        <p:spPr>
          <a:xfrm>
            <a:off x="6519672" y="306324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6519672" y="30632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9464040" y="306324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9464040" y="30632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8074152" y="3401568"/>
            <a:ext cx="1389888" cy="0"/>
          </a:xfrm>
          <a:prstGeom prst="line">
            <a:avLst/>
          </a:prstGeom>
          <a:noFill/>
          <a:ln w="25400">
            <a:solidFill>
              <a:srgbClr val="1D63ED"/>
            </a:solidFill>
            <a:prstDash val="dash"/>
          </a:ln>
        </p:spPr>
      </p:sp>
      <p:sp>
        <p:nvSpPr>
          <p:cNvPr id="25" name="Shape 20"/>
          <p:cNvSpPr/>
          <p:nvPr/>
        </p:nvSpPr>
        <p:spPr>
          <a:xfrm>
            <a:off x="8631936" y="3264408"/>
            <a:ext cx="274320" cy="274320"/>
          </a:xfrm>
          <a:prstGeom prst="ellipse">
            <a:avLst/>
          </a:prstGeom>
          <a:solidFill>
            <a:srgbClr val="1D63ED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7772400" y="3566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6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app-network</a:t>
            </a:r>
            <a:endParaRPr lang="en-US" sz="950" dirty="0"/>
          </a:p>
        </p:txBody>
      </p:sp>
      <p:sp>
        <p:nvSpPr>
          <p:cNvPr id="27" name="Text 22"/>
          <p:cNvSpPr txBox="1"/>
          <p:nvPr/>
        </p:nvSpPr>
        <p:spPr>
          <a:xfrm>
            <a:off x="6519672" y="42976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633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network create app-network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633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network inspect app-network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6519672" y="50292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on the same custom network can reach each other by container name — no hard-coded IP addresses needed.</a:t>
            </a:r>
            <a:endParaRPr lang="en-US" sz="1150" dirty="0"/>
          </a:p>
        </p:txBody>
      </p:sp>
      <p:sp>
        <p:nvSpPr>
          <p:cNvPr id="29" name="Text 24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900" dirty="0"/>
          </a:p>
        </p:txBody>
      </p:sp>
      <p:sp>
        <p:nvSpPr>
          <p:cNvPr id="30" name="Text 25"/>
          <p:cNvSpPr txBox="1"/>
          <p:nvPr/>
        </p:nvSpPr>
        <p:spPr>
          <a:xfrm>
            <a:off x="9171432" y="65196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ESSENTIALS</a:t>
            </a:r>
            <a:endParaRPr lang="en-US" sz="900" dirty="0"/>
          </a:p>
        </p:txBody>
      </p:sp>
      <p:sp>
        <p:nvSpPr>
          <p:cNvPr id="31" name="Text 26"/>
          <p:cNvSpPr txBox="1"/>
          <p:nvPr/>
        </p:nvSpPr>
        <p:spPr>
          <a:xfrm>
            <a:off x="11503152" y="651967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D6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400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&amp; Multi-Container Apps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real applications aren’t one container — they’re several (app, database, cache) that need to start together, in order, on a shared network. </a:t>
            </a:r>
            <a:r>
              <a:rPr lang="en-US" sz="1500" b="1" dirty="0">
                <a:solidFill>
                  <a:srgbClr val="1D6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describes that whole stack in a single YAML file, so it comes up the same way every time.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82296" cy="594360"/>
          </a:xfrm>
          <a:prstGeom prst="roundRect">
            <a:avLst>
              <a:gd name="adj" fmla="val 22222"/>
            </a:avLst>
          </a:prstGeom>
          <a:solidFill>
            <a:srgbClr val="1D63E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0175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command, whole stack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82696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starts every service, network, and volume defined in the file.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813048"/>
            <a:ext cx="82296" cy="594360"/>
          </a:xfrm>
          <a:prstGeom prst="roundRect">
            <a:avLst>
              <a:gd name="adj" fmla="val 22222"/>
            </a:avLst>
          </a:prstGeom>
          <a:solidFill>
            <a:srgbClr val="1D63E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37673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across machines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03250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compose.yaml behaves the same on your laptop, a teammate's machine, or a server.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562856"/>
            <a:ext cx="82296" cy="594360"/>
          </a:xfrm>
          <a:prstGeom prst="roundRect">
            <a:avLst>
              <a:gd name="adj" fmla="val 22222"/>
            </a:avLst>
          </a:prstGeom>
          <a:solidFill>
            <a:srgbClr val="1D63E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451713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teardown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78231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down cleanly stops and removes everything it created.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78040" y="1463040"/>
            <a:ext cx="4480560" cy="4754880"/>
          </a:xfrm>
          <a:prstGeom prst="roundRect">
            <a:avLst>
              <a:gd name="adj" fmla="val 2041"/>
            </a:avLst>
          </a:prstGeom>
          <a:solidFill>
            <a:srgbClr val="0B1F3A"/>
          </a:solidFill>
          <a:ln/>
        </p:spPr>
      </p:sp>
      <p:sp>
        <p:nvSpPr>
          <p:cNvPr id="15" name="Shape 13"/>
          <p:cNvSpPr/>
          <p:nvPr/>
        </p:nvSpPr>
        <p:spPr>
          <a:xfrm>
            <a:off x="7178040" y="1463040"/>
            <a:ext cx="4480560" cy="420624"/>
          </a:xfrm>
          <a:prstGeom prst="rect">
            <a:avLst/>
          </a:prstGeom>
          <a:solidFill>
            <a:srgbClr val="0A1830"/>
          </a:solidFill>
          <a:ln/>
        </p:spPr>
      </p:sp>
      <p:sp>
        <p:nvSpPr>
          <p:cNvPr id="16" name="Shape 14"/>
          <p:cNvSpPr/>
          <p:nvPr/>
        </p:nvSpPr>
        <p:spPr>
          <a:xfrm>
            <a:off x="7388352" y="1609344"/>
            <a:ext cx="118872" cy="11887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Shape 15"/>
          <p:cNvSpPr/>
          <p:nvPr/>
        </p:nvSpPr>
        <p:spPr>
          <a:xfrm>
            <a:off x="7589520" y="1609344"/>
            <a:ext cx="118872" cy="118872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8" name="Shape 16"/>
          <p:cNvSpPr/>
          <p:nvPr/>
        </p:nvSpPr>
        <p:spPr>
          <a:xfrm>
            <a:off x="7790688" y="1609344"/>
            <a:ext cx="118872" cy="118872"/>
          </a:xfrm>
          <a:prstGeom prst="ellipse">
            <a:avLst/>
          </a:prstGeom>
          <a:solidFill>
            <a:srgbClr val="70AD4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46720" y="146304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B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Compose Commands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452360" y="20574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FE0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7452360" y="23500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6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all services in the background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452360" y="277063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FE0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ps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452360" y="3063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6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services in this project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452360" y="348386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FE0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down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7452360" y="37764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6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and remove containers, networks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452360" y="4215384"/>
            <a:ext cx="3931920" cy="0"/>
          </a:xfrm>
          <a:prstGeom prst="line">
            <a:avLst/>
          </a:prstGeom>
          <a:noFill/>
          <a:ln w="12700">
            <a:solidFill>
              <a:srgbClr val="2A4A8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452360" y="4379976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C6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Compose as version control for your infrastructure: the file itself documents exactly how the app is meant to run.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9171432" y="65196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ESSENTIALS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503152" y="651967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D6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&amp; SECURITY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400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in the Pipeline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Docker's role doesn't stop at your laptop — the same image moves through build, test, and deploy stages, so what you tested is exactly what ships.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94960" cy="4663440"/>
          </a:xfrm>
          <a:prstGeom prst="roundRect">
            <a:avLst>
              <a:gd name="adj" fmla="val 1961"/>
            </a:avLst>
          </a:prstGeom>
          <a:solidFill>
            <a:srgbClr val="0B1F3A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19456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16335C"/>
          </a:solidFill>
          <a:ln/>
        </p:spPr>
      </p:sp>
      <p:pic>
        <p:nvPicPr>
          <p:cNvPr id="7" name="Image 0" descr="/home/claude/icons/code_bran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313432"/>
            <a:ext cx="265176" cy="26517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2249424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Commands in a Pipeline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22960" y="288036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16335C"/>
          </a:solidFill>
          <a:ln/>
        </p:spPr>
      </p:sp>
      <p:pic>
        <p:nvPicPr>
          <p:cNvPr id="10" name="Image 1" descr="/home/claude/icons/k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971800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53312" y="285292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FE0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login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1353312" y="31089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6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the CI runner with the registry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22960" y="3502152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16335C"/>
          </a:solidFill>
          <a:ln/>
        </p:spPr>
      </p:sp>
      <p:pic>
        <p:nvPicPr>
          <p:cNvPr id="14" name="Image 2" descr="/home/claude/icons/cu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593592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353312" y="34747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FE0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build -t app:$TAG .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1353312" y="373075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6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tagged image for this commit/release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822960" y="4123944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16335C"/>
          </a:solidFill>
          <a:ln/>
        </p:spPr>
      </p:sp>
      <p:pic>
        <p:nvPicPr>
          <p:cNvPr id="18" name="Image 3" descr="/home/claude/icons/uploa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215384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353312" y="40965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FE0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push app:$TAG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1353312" y="435254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6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image to the registry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822960" y="4745736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16335C"/>
          </a:solidFill>
          <a:ln/>
        </p:spPr>
      </p:sp>
      <p:pic>
        <p:nvPicPr>
          <p:cNvPr id="22" name="Image 4" descr="/home/claude/icons/downloa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837176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353312" y="471830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FE0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pull app:$TAG</a:t>
            </a:r>
            <a:endParaRPr lang="en-US" sz="1250" dirty="0"/>
          </a:p>
        </p:txBody>
      </p:sp>
      <p:sp>
        <p:nvSpPr>
          <p:cNvPr id="24" name="Text 17"/>
          <p:cNvSpPr txBox="1"/>
          <p:nvPr/>
        </p:nvSpPr>
        <p:spPr>
          <a:xfrm>
            <a:off x="1353312" y="497433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6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the exact same image on the deploy server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6245352" y="1965960"/>
            <a:ext cx="5394960" cy="4663440"/>
          </a:xfrm>
          <a:prstGeom prst="roundRect">
            <a:avLst>
              <a:gd name="adj" fmla="val 1961"/>
            </a:avLst>
          </a:prstGeom>
          <a:solidFill>
            <a:srgbClr val="EAF1FE"/>
          </a:solidFill>
          <a:ln/>
        </p:spPr>
      </p:sp>
      <p:sp>
        <p:nvSpPr>
          <p:cNvPr id="26" name="Shape 19"/>
          <p:cNvSpPr/>
          <p:nvPr/>
        </p:nvSpPr>
        <p:spPr>
          <a:xfrm>
            <a:off x="6519672" y="219456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/>
        </p:spPr>
      </p:sp>
      <p:pic>
        <p:nvPicPr>
          <p:cNvPr id="27" name="Image 5" descr="/home/claude/icons/shiel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8544" y="2313432"/>
            <a:ext cx="265176" cy="265176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7159752" y="2249424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Checklist</a:t>
            </a:r>
            <a:endParaRPr lang="en-US" sz="1450" dirty="0"/>
          </a:p>
        </p:txBody>
      </p:sp>
      <p:pic>
        <p:nvPicPr>
          <p:cNvPr id="29" name="Image 6" descr="/home/claude/icons/check_circ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9672" y="2898648"/>
            <a:ext cx="256032" cy="256032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6903720" y="28620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official / verified base images</a:t>
            </a:r>
            <a:endParaRPr lang="en-US" sz="1250" dirty="0"/>
          </a:p>
        </p:txBody>
      </p:sp>
      <p:sp>
        <p:nvSpPr>
          <p:cNvPr id="31" name="Text 22"/>
          <p:cNvSpPr txBox="1"/>
          <p:nvPr/>
        </p:nvSpPr>
        <p:spPr>
          <a:xfrm>
            <a:off x="6903720" y="313639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unknown images that may carry vulnerabilities or malware.</a:t>
            </a:r>
            <a:endParaRPr lang="en-US" sz="1050" dirty="0"/>
          </a:p>
        </p:txBody>
      </p:sp>
      <p:pic>
        <p:nvPicPr>
          <p:cNvPr id="32" name="Image 7" descr="/home/claude/icons/check_circ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9672" y="3694176"/>
            <a:ext cx="256032" cy="256032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6903720" y="36576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images updated</a:t>
            </a:r>
            <a:endParaRPr lang="en-US" sz="1250" dirty="0"/>
          </a:p>
        </p:txBody>
      </p:sp>
      <p:sp>
        <p:nvSpPr>
          <p:cNvPr id="34" name="Text 24"/>
          <p:cNvSpPr txBox="1"/>
          <p:nvPr/>
        </p:nvSpPr>
        <p:spPr>
          <a:xfrm>
            <a:off x="6903720" y="39319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regularly so security patches in the base image reach production.</a:t>
            </a:r>
            <a:endParaRPr lang="en-US" sz="1050" dirty="0"/>
          </a:p>
        </p:txBody>
      </p:sp>
      <p:pic>
        <p:nvPicPr>
          <p:cNvPr id="35" name="Image 8" descr="/home/claude/icons/check_circ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9672" y="4489704"/>
            <a:ext cx="256032" cy="256032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6903720" y="445312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running as root</a:t>
            </a:r>
            <a:endParaRPr lang="en-US" sz="1250" dirty="0"/>
          </a:p>
        </p:txBody>
      </p:sp>
      <p:sp>
        <p:nvSpPr>
          <p:cNvPr id="37" name="Text 26"/>
          <p:cNvSpPr txBox="1"/>
          <p:nvPr/>
        </p:nvSpPr>
        <p:spPr>
          <a:xfrm>
            <a:off x="6903720" y="47274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non-root USER in the Dockerfile to limit damage from a compromised container.</a:t>
            </a:r>
            <a:endParaRPr lang="en-US" sz="1050" dirty="0"/>
          </a:p>
        </p:txBody>
      </p:sp>
      <p:pic>
        <p:nvPicPr>
          <p:cNvPr id="38" name="Image 9" descr="/home/claude/icons/check_circ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9672" y="5285232"/>
            <a:ext cx="256032" cy="256032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6903720" y="524865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images before deploy</a:t>
            </a:r>
            <a:endParaRPr lang="en-US" sz="1250" dirty="0"/>
          </a:p>
        </p:txBody>
      </p:sp>
      <p:sp>
        <p:nvSpPr>
          <p:cNvPr id="40" name="Text 28"/>
          <p:cNvSpPr txBox="1"/>
          <p:nvPr/>
        </p:nvSpPr>
        <p:spPr>
          <a:xfrm>
            <a:off x="6903720" y="552297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tools like Docker Scout or Trivy to catch known CVEs early.</a:t>
            </a:r>
            <a:endParaRPr lang="en-US" sz="1050" dirty="0"/>
          </a:p>
        </p:txBody>
      </p:sp>
      <p:sp>
        <p:nvSpPr>
          <p:cNvPr id="41" name="Text 29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&amp; SECURITY</a:t>
            </a:r>
            <a:endParaRPr lang="en-US" sz="900" dirty="0"/>
          </a:p>
        </p:txBody>
      </p:sp>
      <p:sp>
        <p:nvSpPr>
          <p:cNvPr id="42" name="Text 30"/>
          <p:cNvSpPr txBox="1"/>
          <p:nvPr/>
        </p:nvSpPr>
        <p:spPr>
          <a:xfrm>
            <a:off x="9171432" y="65196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ESSENTIALS</a:t>
            </a:r>
            <a:endParaRPr lang="en-US" sz="900" dirty="0"/>
          </a:p>
        </p:txBody>
      </p:sp>
      <p:sp>
        <p:nvSpPr>
          <p:cNvPr id="43" name="Text 31"/>
          <p:cNvSpPr txBox="1"/>
          <p:nvPr/>
        </p:nvSpPr>
        <p:spPr>
          <a:xfrm>
            <a:off x="11503152" y="651967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D6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400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Deployment Example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one app from a local build to a live server in three commands each.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20440" cy="4160520"/>
          </a:xfrm>
          <a:prstGeom prst="roundRect">
            <a:avLst>
              <a:gd name="adj" fmla="val 2597"/>
            </a:avLst>
          </a:prstGeom>
          <a:solidFill>
            <a:srgbClr val="EAF1F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1945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7D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3291840" y="224028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/>
        </p:spPr>
      </p:sp>
      <p:pic>
        <p:nvPicPr>
          <p:cNvPr id="8" name="Image 0" descr="/home/claude/icons/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0712" y="2359152"/>
            <a:ext cx="265176" cy="26517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29260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77240" y="3429000"/>
            <a:ext cx="3063240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32688" y="3566160"/>
            <a:ext cx="275234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1633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build -t my-app:1.0 .</a:t>
            </a:r>
            <a:endParaRPr lang="en-US" sz="1100" dirty="0"/>
          </a:p>
        </p:txBody>
      </p:sp>
      <p:pic>
        <p:nvPicPr>
          <p:cNvPr id="12" name="Image 1" descr="/home/claude/icons/arrow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8224" y="3991356"/>
            <a:ext cx="201168" cy="20116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288536" y="2011680"/>
            <a:ext cx="3520440" cy="4160520"/>
          </a:xfrm>
          <a:prstGeom prst="roundRect">
            <a:avLst>
              <a:gd name="adj" fmla="val 2597"/>
            </a:avLst>
          </a:prstGeom>
          <a:solidFill>
            <a:srgbClr val="EAF1FE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4517136" y="21945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7D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400" dirty="0"/>
          </a:p>
        </p:txBody>
      </p:sp>
      <p:sp>
        <p:nvSpPr>
          <p:cNvPr id="15" name="Shape 11"/>
          <p:cNvSpPr/>
          <p:nvPr/>
        </p:nvSpPr>
        <p:spPr>
          <a:xfrm>
            <a:off x="7031736" y="224028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/>
        </p:spPr>
      </p:sp>
      <p:pic>
        <p:nvPicPr>
          <p:cNvPr id="16" name="Image 2" descr="/home/claude/icons/pla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608" y="2359152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517136" y="29260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Locally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4517136" y="3429000"/>
            <a:ext cx="3063240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4672584" y="3566160"/>
            <a:ext cx="275234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1633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-p 3000:3000 --name my-app my-app:1.0</a:t>
            </a:r>
            <a:endParaRPr lang="en-US" sz="1100" dirty="0"/>
          </a:p>
        </p:txBody>
      </p:sp>
      <p:pic>
        <p:nvPicPr>
          <p:cNvPr id="20" name="Image 3" descr="/home/claude/icons/arrow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3991356"/>
            <a:ext cx="201168" cy="201168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8028432" y="2011680"/>
            <a:ext cx="3520440" cy="4160520"/>
          </a:xfrm>
          <a:prstGeom prst="roundRect">
            <a:avLst>
              <a:gd name="adj" fmla="val 2597"/>
            </a:avLst>
          </a:prstGeom>
          <a:solidFill>
            <a:srgbClr val="0B1F3A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8257032" y="21945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4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400" dirty="0"/>
          </a:p>
        </p:txBody>
      </p:sp>
      <p:sp>
        <p:nvSpPr>
          <p:cNvPr id="23" name="Shape 17"/>
          <p:cNvSpPr/>
          <p:nvPr/>
        </p:nvSpPr>
        <p:spPr>
          <a:xfrm>
            <a:off x="10771632" y="224028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16335C"/>
          </a:solidFill>
          <a:ln/>
        </p:spPr>
      </p:sp>
      <p:pic>
        <p:nvPicPr>
          <p:cNvPr id="24" name="Image 4" descr="/home/claude/icons/clou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90504" y="2359152"/>
            <a:ext cx="265176" cy="26517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257032" y="29260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Server</a:t>
            </a:r>
            <a:endParaRPr lang="en-US" sz="1700" dirty="0"/>
          </a:p>
        </p:txBody>
      </p:sp>
      <p:sp>
        <p:nvSpPr>
          <p:cNvPr id="26" name="Shape 19"/>
          <p:cNvSpPr/>
          <p:nvPr/>
        </p:nvSpPr>
        <p:spPr>
          <a:xfrm>
            <a:off x="8257032" y="3429000"/>
            <a:ext cx="3063240" cy="2468880"/>
          </a:xfrm>
          <a:prstGeom prst="roundRect">
            <a:avLst>
              <a:gd name="adj" fmla="val 2222"/>
            </a:avLst>
          </a:prstGeom>
          <a:solidFill>
            <a:srgbClr val="0A1830"/>
          </a:solidFill>
          <a:ln/>
        </p:spPr>
      </p:sp>
      <p:sp>
        <p:nvSpPr>
          <p:cNvPr id="27" name="Text 20"/>
          <p:cNvSpPr txBox="1"/>
          <p:nvPr/>
        </p:nvSpPr>
        <p:spPr>
          <a:xfrm>
            <a:off x="8412480" y="3566160"/>
            <a:ext cx="275234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7FE0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pull username/my-app:1.0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7FE0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-p 3000:3000 username/my-app:1.0</a:t>
            </a:r>
            <a:endParaRPr lang="en-US" sz="1100" dirty="0"/>
          </a:p>
        </p:txBody>
      </p:sp>
      <p:sp>
        <p:nvSpPr>
          <p:cNvPr id="28" name="Text 21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900" dirty="0"/>
          </a:p>
        </p:txBody>
      </p:sp>
      <p:sp>
        <p:nvSpPr>
          <p:cNvPr id="29" name="Text 22"/>
          <p:cNvSpPr txBox="1"/>
          <p:nvPr/>
        </p:nvSpPr>
        <p:spPr>
          <a:xfrm>
            <a:off x="9171432" y="65196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ESSENTIALS</a:t>
            </a:r>
            <a:endParaRPr lang="en-US" sz="900" dirty="0"/>
          </a:p>
        </p:txBody>
      </p:sp>
      <p:sp>
        <p:nvSpPr>
          <p:cNvPr id="30" name="Text 23"/>
          <p:cNvSpPr txBox="1"/>
          <p:nvPr/>
        </p:nvSpPr>
        <p:spPr>
          <a:xfrm>
            <a:off x="11503152" y="651967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D6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400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Docker Solves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recurring pain points in software delivery, and how containers remove them.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EAF1FE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19456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/>
        </p:spPr>
      </p:sp>
      <p:pic>
        <p:nvPicPr>
          <p:cNvPr id="7" name="Image 0" descr="/home/claude/icons/b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2322576"/>
            <a:ext cx="292608" cy="2926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2185416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“Works on My Machine”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468880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D6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drift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8803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container carries its own OS libraries and config, so behavior doesn't change between machines.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63056" y="196596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EAF1FE"/>
          </a:solidFill>
          <a:ln/>
        </p:spPr>
      </p:sp>
      <p:sp>
        <p:nvSpPr>
          <p:cNvPr id="12" name="Shape 9"/>
          <p:cNvSpPr/>
          <p:nvPr/>
        </p:nvSpPr>
        <p:spPr>
          <a:xfrm>
            <a:off x="6391656" y="219456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/>
        </p:spPr>
      </p:sp>
      <p:pic>
        <p:nvPicPr>
          <p:cNvPr id="13" name="Image 1" descr="/home/claude/icons/puzz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2322576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077456" y="2185416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Conflicts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7077456" y="2468880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D6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clashes between apps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6391656" y="28803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container has an isolated filesystem, so two apps can use different, even conflicting, library versions safely.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48640" y="4334256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EAF1FE"/>
          </a:solidFill>
          <a:ln/>
        </p:spPr>
      </p:sp>
      <p:sp>
        <p:nvSpPr>
          <p:cNvPr id="18" name="Shape 14"/>
          <p:cNvSpPr/>
          <p:nvPr/>
        </p:nvSpPr>
        <p:spPr>
          <a:xfrm>
            <a:off x="777240" y="4562856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/>
        </p:spPr>
      </p:sp>
      <p:pic>
        <p:nvPicPr>
          <p:cNvPr id="19" name="Image 2" descr="/home/claude/icons/glo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4690872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463040" y="4553712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1463040" y="4837176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D6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on-prem, laptop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777240" y="5248656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image runs anywhere Docker is </a:t>
            </a:r>
            <a:r>
              <a:rPr lang="en-US" sz="1150" dirty="0" smtClean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installed, no </a:t>
            </a: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rewriting deployment steps per environment.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163056" y="4334256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EAF1FE"/>
          </a:solidFill>
          <a:ln/>
        </p:spPr>
      </p:sp>
      <p:sp>
        <p:nvSpPr>
          <p:cNvPr id="24" name="Shape 19"/>
          <p:cNvSpPr/>
          <p:nvPr/>
        </p:nvSpPr>
        <p:spPr>
          <a:xfrm>
            <a:off x="6391656" y="4562856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/>
        </p:spPr>
      </p:sp>
      <p:pic>
        <p:nvPicPr>
          <p:cNvPr id="25" name="Image 3" descr="/home/claude/icons/syn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9672" y="4690872"/>
            <a:ext cx="292608" cy="292608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077456" y="4553712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Deployments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7077456" y="4837176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D6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error-prone releases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6391656" y="5248656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are versioned artifacts, so CI/CD pipelines can build once and deploy that exact artifact every time.</a:t>
            </a:r>
            <a:endParaRPr lang="en-US" sz="1150" dirty="0"/>
          </a:p>
        </p:txBody>
      </p:sp>
      <p:sp>
        <p:nvSpPr>
          <p:cNvPr id="29" name="Text 23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30" name="Text 24"/>
          <p:cNvSpPr txBox="1"/>
          <p:nvPr/>
        </p:nvSpPr>
        <p:spPr>
          <a:xfrm>
            <a:off x="9171432" y="65196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ESSENTIALS</a:t>
            </a:r>
            <a:endParaRPr lang="en-US" sz="900" dirty="0"/>
          </a:p>
        </p:txBody>
      </p:sp>
      <p:sp>
        <p:nvSpPr>
          <p:cNvPr id="31" name="Text 25"/>
          <p:cNvSpPr txBox="1"/>
          <p:nvPr/>
        </p:nvSpPr>
        <p:spPr>
          <a:xfrm>
            <a:off x="11503152" y="651967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cons/docker_wha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94360"/>
            <a:ext cx="502920" cy="502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8FB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30352" y="155448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in Four Ideas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2606040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13294D"/>
          </a:solidFill>
          <a:ln/>
        </p:spPr>
      </p:sp>
      <p:sp>
        <p:nvSpPr>
          <p:cNvPr id="6" name="Shape 3"/>
          <p:cNvSpPr/>
          <p:nvPr/>
        </p:nvSpPr>
        <p:spPr>
          <a:xfrm>
            <a:off x="804672" y="286207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16335C"/>
          </a:solidFill>
          <a:ln/>
        </p:spPr>
      </p:sp>
      <p:pic>
        <p:nvPicPr>
          <p:cNvPr id="7" name="Image 1" descr="/home/claude/icons/file_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2990088"/>
            <a:ext cx="292608" cy="29260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2843784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once</a:t>
            </a:r>
            <a:endParaRPr lang="en-US" sz="1550" dirty="0"/>
          </a:p>
        </p:txBody>
      </p:sp>
      <p:sp>
        <p:nvSpPr>
          <p:cNvPr id="9" name="Text 5"/>
          <p:cNvSpPr txBox="1"/>
          <p:nvPr/>
        </p:nvSpPr>
        <p:spPr>
          <a:xfrm>
            <a:off x="1508760" y="3172968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6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Dockerfile turns source code into a portable, versioned image.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080760" y="2606040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13294D"/>
          </a:solidFill>
          <a:ln/>
        </p:spPr>
      </p:sp>
      <p:sp>
        <p:nvSpPr>
          <p:cNvPr id="11" name="Shape 7"/>
          <p:cNvSpPr/>
          <p:nvPr/>
        </p:nvSpPr>
        <p:spPr>
          <a:xfrm>
            <a:off x="6336792" y="286207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16335C"/>
          </a:solidFill>
          <a:ln/>
        </p:spPr>
      </p:sp>
      <p:pic>
        <p:nvPicPr>
          <p:cNvPr id="12" name="Image 2" descr="/home/claude/icons/box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4808" y="2990088"/>
            <a:ext cx="292608" cy="29260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040880" y="2843784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cleanly</a:t>
            </a:r>
            <a:endParaRPr lang="en-US" sz="1550" dirty="0"/>
          </a:p>
        </p:txBody>
      </p:sp>
      <p:sp>
        <p:nvSpPr>
          <p:cNvPr id="14" name="Text 9"/>
          <p:cNvSpPr txBox="1"/>
          <p:nvPr/>
        </p:nvSpPr>
        <p:spPr>
          <a:xfrm>
            <a:off x="7040880" y="3172968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6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keep apps and their dependencies from colliding with each other.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548640" y="4572000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13294D"/>
          </a:solidFill>
          <a:ln/>
        </p:spPr>
      </p:sp>
      <p:sp>
        <p:nvSpPr>
          <p:cNvPr id="16" name="Shape 11"/>
          <p:cNvSpPr/>
          <p:nvPr/>
        </p:nvSpPr>
        <p:spPr>
          <a:xfrm>
            <a:off x="804672" y="482803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16335C"/>
          </a:solidFill>
          <a:ln/>
        </p:spPr>
      </p:sp>
      <p:pic>
        <p:nvPicPr>
          <p:cNvPr id="17" name="Image 3" descr="/home/claude/icons/netwo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4956048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08760" y="4809744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deliberately</a:t>
            </a:r>
            <a:endParaRPr lang="en-US" sz="1550" dirty="0"/>
          </a:p>
        </p:txBody>
      </p:sp>
      <p:sp>
        <p:nvSpPr>
          <p:cNvPr id="19" name="Text 13"/>
          <p:cNvSpPr txBox="1"/>
          <p:nvPr/>
        </p:nvSpPr>
        <p:spPr>
          <a:xfrm>
            <a:off x="1508760" y="5138928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6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mapping and networks control exactly what a container can reach.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080760" y="4572000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13294D"/>
          </a:solidFill>
          <a:ln/>
        </p:spPr>
      </p:sp>
      <p:sp>
        <p:nvSpPr>
          <p:cNvPr id="21" name="Shape 15"/>
          <p:cNvSpPr/>
          <p:nvPr/>
        </p:nvSpPr>
        <p:spPr>
          <a:xfrm>
            <a:off x="6336792" y="482803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16335C"/>
          </a:solidFill>
          <a:ln/>
        </p:spPr>
      </p:sp>
      <p:pic>
        <p:nvPicPr>
          <p:cNvPr id="22" name="Image 4" descr="/home/claude/icons/rock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4808" y="4956048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040880" y="4809744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consistently</a:t>
            </a:r>
            <a:endParaRPr lang="en-US" sz="1550" dirty="0"/>
          </a:p>
        </p:txBody>
      </p:sp>
      <p:sp>
        <p:nvSpPr>
          <p:cNvPr id="24" name="Text 17"/>
          <p:cNvSpPr txBox="1"/>
          <p:nvPr/>
        </p:nvSpPr>
        <p:spPr>
          <a:xfrm>
            <a:off x="7040880" y="5138928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6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image runs unchanged from a laptop to a production server.</a:t>
            </a:r>
            <a:endParaRPr lang="en-US" sz="1150" dirty="0"/>
          </a:p>
        </p:txBody>
      </p:sp>
      <p:sp>
        <p:nvSpPr>
          <p:cNvPr id="25" name="Text 18"/>
          <p:cNvSpPr txBox="1"/>
          <p:nvPr/>
        </p:nvSpPr>
        <p:spPr>
          <a:xfrm>
            <a:off x="548640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1486</Words>
  <Application>Microsoft Office PowerPoint</Application>
  <PresentationFormat>Widescreen</PresentationFormat>
  <Paragraphs>234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</cp:lastModifiedBy>
  <cp:revision>3</cp:revision>
  <dcterms:created xsi:type="dcterms:W3CDTF">2026-09-03T03:08:52Z</dcterms:created>
  <dcterms:modified xsi:type="dcterms:W3CDTF">2026-09-03T03:13:56Z</dcterms:modified>
</cp:coreProperties>
</file>